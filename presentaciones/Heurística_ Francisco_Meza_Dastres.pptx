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5" r:id="rId5"/>
    <p:sldId id="259" r:id="rId6"/>
    <p:sldId id="267" r:id="rId7"/>
    <p:sldId id="260" r:id="rId8"/>
    <p:sldId id="261" r:id="rId9"/>
    <p:sldId id="262" r:id="rId10"/>
    <p:sldId id="263"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41" d="100"/>
          <a:sy n="141" d="100"/>
        </p:scale>
        <p:origin x="78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51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43827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56867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“En conclusión, aplicar un enfoque heurístico nos permite guiar sin imponer, dando espacio a que cada persona piense, explore y descubra sus propias respuestas. Tal como plantea Sócrates, no se trata de entregar la solución, sino de encender el proceso de reflexión. Con esta metodología logramos que el aprendizaje sea más profundo, más autónomo y mucho más significativo.”</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17706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530352" y="1741140"/>
            <a:ext cx="8083296" cy="685800"/>
          </a:xfrm>
          <a:prstGeom prst="rect">
            <a:avLst/>
          </a:prstGeom>
          <a:noFill/>
          <a:ln/>
        </p:spPr>
        <p:txBody>
          <a:bodyPr wrap="square" lIns="0" tIns="0" rIns="0" bIns="0" rtlCol="0" anchor="t"/>
          <a:lstStyle/>
          <a:p>
            <a:pPr marL="0" indent="0" algn="ctr">
              <a:lnSpc>
                <a:spcPts val="7200"/>
              </a:lnSpc>
              <a:buNone/>
            </a:pPr>
            <a:r>
              <a:rPr lang="en-US" sz="4500" b="1" dirty="0">
                <a:solidFill>
                  <a:srgbClr val="38BDF8"/>
                </a:solidFill>
                <a:latin typeface="Trebuchet MS" pitchFamily="34" charset="0"/>
                <a:ea typeface="Trebuchet MS" pitchFamily="34" charset="-122"/>
                <a:cs typeface="Trebuchet MS" pitchFamily="34" charset="-120"/>
              </a:rPr>
              <a:t>Heurística</a:t>
            </a:r>
            <a:endParaRPr lang="en-US" sz="4500" dirty="0"/>
          </a:p>
        </p:txBody>
      </p:sp>
      <p:sp>
        <p:nvSpPr>
          <p:cNvPr id="3" name="Text 1"/>
          <p:cNvSpPr/>
          <p:nvPr/>
        </p:nvSpPr>
        <p:spPr>
          <a:xfrm>
            <a:off x="530352" y="2579340"/>
            <a:ext cx="8083296" cy="365671"/>
          </a:xfrm>
          <a:prstGeom prst="rect">
            <a:avLst/>
          </a:prstGeom>
          <a:noFill/>
          <a:ln/>
        </p:spPr>
        <p:txBody>
          <a:bodyPr wrap="square" lIns="0" tIns="0" rIns="0" bIns="0" rtlCol="0" anchor="t"/>
          <a:lstStyle/>
          <a:p>
            <a:pPr marL="0" indent="0" algn="ctr">
              <a:lnSpc>
                <a:spcPts val="3840"/>
              </a:lnSpc>
              <a:buNone/>
            </a:pPr>
            <a:r>
              <a:rPr lang="en-US" sz="1800" dirty="0">
                <a:solidFill>
                  <a:srgbClr val="CBD5E1"/>
                </a:solidFill>
                <a:latin typeface="Trebuchet MS" pitchFamily="34" charset="0"/>
                <a:ea typeface="Trebuchet MS" pitchFamily="34" charset="-122"/>
                <a:cs typeface="Trebuchet MS" pitchFamily="34" charset="-120"/>
              </a:rPr>
              <a:t>Los atajos de tu mente</a:t>
            </a:r>
            <a:endParaRPr lang="en-US" sz="1800" dirty="0"/>
          </a:p>
        </p:txBody>
      </p:sp>
      <p:sp>
        <p:nvSpPr>
          <p:cNvPr id="4" name="Text 2"/>
          <p:cNvSpPr/>
          <p:nvPr/>
        </p:nvSpPr>
        <p:spPr>
          <a:xfrm>
            <a:off x="609600" y="4352925"/>
            <a:ext cx="1607156" cy="180975"/>
          </a:xfrm>
          <a:prstGeom prst="rect">
            <a:avLst/>
          </a:prstGeom>
          <a:noFill/>
          <a:ln/>
        </p:spPr>
        <p:txBody>
          <a:bodyPr wrap="square" lIns="0" tIns="0" rIns="0" bIns="0" rtlCol="0" anchor="t"/>
          <a:lstStyle/>
          <a:p>
            <a:pPr marL="0" indent="0">
              <a:lnSpc>
                <a:spcPts val="1440"/>
              </a:lnSpc>
              <a:buNone/>
            </a:pPr>
            <a:r>
              <a:rPr lang="en-US" sz="1200" dirty="0">
                <a:solidFill>
                  <a:srgbClr val="38BDF8"/>
                </a:solidFill>
                <a:latin typeface="Trebuchet MS" pitchFamily="34" charset="0"/>
                <a:ea typeface="Trebuchet MS" pitchFamily="34" charset="-122"/>
                <a:cs typeface="Trebuchet MS" pitchFamily="34" charset="-120"/>
              </a:rPr>
              <a:t>Francisco Meza Dastres</a:t>
            </a:r>
            <a:endParaRPr lang="en-US" sz="1200" dirty="0"/>
          </a:p>
        </p:txBody>
      </p:sp>
      <p:sp>
        <p:nvSpPr>
          <p:cNvPr id="5" name="Text 3"/>
          <p:cNvSpPr/>
          <p:nvPr/>
        </p:nvSpPr>
        <p:spPr>
          <a:xfrm>
            <a:off x="3995663" y="4352925"/>
            <a:ext cx="1175727" cy="180975"/>
          </a:xfrm>
          <a:prstGeom prst="rect">
            <a:avLst/>
          </a:prstGeom>
          <a:noFill/>
          <a:ln/>
        </p:spPr>
        <p:txBody>
          <a:bodyPr wrap="square" lIns="0" tIns="0" rIns="0" bIns="0" rtlCol="0" anchor="t"/>
          <a:lstStyle/>
          <a:p>
            <a:pPr marL="0" indent="0">
              <a:lnSpc>
                <a:spcPts val="1440"/>
              </a:lnSpc>
              <a:buNone/>
            </a:pPr>
            <a:r>
              <a:rPr lang="en-US" sz="1200" dirty="0">
                <a:solidFill>
                  <a:srgbClr val="06B6D4"/>
                </a:solidFill>
                <a:latin typeface="Trebuchet MS" pitchFamily="34" charset="0"/>
                <a:ea typeface="Trebuchet MS" pitchFamily="34" charset="-122"/>
                <a:cs typeface="Trebuchet MS" pitchFamily="34" charset="-120"/>
              </a:rPr>
              <a:t>Generation Chile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30352" y="806525"/>
            <a:ext cx="8083296" cy="548580"/>
          </a:xfrm>
          <a:prstGeom prst="rect">
            <a:avLst/>
          </a:prstGeom>
          <a:noFill/>
          <a:ln/>
        </p:spPr>
        <p:txBody>
          <a:bodyPr wrap="square" lIns="0" tIns="0" rIns="0" bIns="0" rtlCol="0" anchor="t"/>
          <a:lstStyle/>
          <a:p>
            <a:pPr marL="0" indent="0" algn="ctr">
              <a:lnSpc>
                <a:spcPts val="5760"/>
              </a:lnSpc>
              <a:buNone/>
            </a:pPr>
            <a:r>
              <a:rPr lang="es-ES" sz="2400" i="1" dirty="0">
                <a:solidFill>
                  <a:srgbClr val="38BDF8"/>
                </a:solidFill>
                <a:latin typeface="Trebuchet MS" pitchFamily="34" charset="0"/>
                <a:ea typeface="Trebuchet MS" pitchFamily="34" charset="-122"/>
                <a:cs typeface="Trebuchet MS" pitchFamily="34" charset="-120"/>
              </a:rPr>
              <a:t>“La educación es el encendido de una llama, no el llenado de un recipiente.”</a:t>
            </a:r>
            <a:endParaRPr lang="en-US" sz="2400" dirty="0"/>
          </a:p>
        </p:txBody>
      </p:sp>
      <p:sp>
        <p:nvSpPr>
          <p:cNvPr id="4" name="Text 1"/>
          <p:cNvSpPr/>
          <p:nvPr/>
        </p:nvSpPr>
        <p:spPr>
          <a:xfrm>
            <a:off x="608729" y="2571750"/>
            <a:ext cx="8083296" cy="219075"/>
          </a:xfrm>
          <a:prstGeom prst="rect">
            <a:avLst/>
          </a:prstGeom>
          <a:noFill/>
          <a:ln/>
        </p:spPr>
        <p:txBody>
          <a:bodyPr wrap="square" lIns="0" tIns="0" rIns="0" bIns="0" rtlCol="0" anchor="t"/>
          <a:lstStyle/>
          <a:p>
            <a:pPr marL="0" indent="0" algn="ctr">
              <a:lnSpc>
                <a:spcPts val="1800"/>
              </a:lnSpc>
              <a:buNone/>
            </a:pPr>
            <a:r>
              <a:rPr lang="en-US" sz="1500" dirty="0">
                <a:solidFill>
                  <a:srgbClr val="CBD5E1"/>
                </a:solidFill>
                <a:latin typeface="Trebuchet MS" pitchFamily="34" charset="0"/>
                <a:ea typeface="Trebuchet MS" pitchFamily="34" charset="-122"/>
                <a:cs typeface="Trebuchet MS" pitchFamily="34" charset="-120"/>
              </a:rPr>
              <a:t>— Sócrates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¿Qué son las Heurísticas?</a:t>
            </a:r>
            <a:endParaRPr lang="en-US" sz="2700" dirty="0"/>
          </a:p>
        </p:txBody>
      </p:sp>
      <p:sp>
        <p:nvSpPr>
          <p:cNvPr id="3" name="Text 1"/>
          <p:cNvSpPr/>
          <p:nvPr/>
        </p:nvSpPr>
        <p:spPr>
          <a:xfrm>
            <a:off x="609600" y="1325761"/>
            <a:ext cx="7924800" cy="1919734"/>
          </a:xfrm>
          <a:prstGeom prst="rect">
            <a:avLst/>
          </a:prstGeom>
          <a:noFill/>
          <a:ln/>
        </p:spPr>
        <p:txBody>
          <a:bodyPr wrap="square" lIns="0" tIns="0" rIns="0" bIns="0" rtlCol="0" anchor="t"/>
          <a:lstStyle/>
          <a:p>
            <a:pPr marL="342900" indent="-342900">
              <a:lnSpc>
                <a:spcPts val="1440"/>
              </a:lnSpc>
              <a:buSzPct val="100000"/>
              <a:buChar char="•"/>
            </a:pPr>
            <a:r>
              <a:rPr lang="en-US" sz="1350" b="1" dirty="0">
                <a:solidFill>
                  <a:srgbClr val="CBD5E1"/>
                </a:solidFill>
                <a:latin typeface="Trebuchet MS" pitchFamily="34" charset="0"/>
                <a:ea typeface="Trebuchet MS" pitchFamily="34" charset="-122"/>
                <a:cs typeface="Trebuchet MS" pitchFamily="34" charset="-120"/>
              </a:rPr>
              <a:t>Caminos alternativos:</a:t>
            </a:r>
            <a:r>
              <a:rPr lang="en-US" sz="1200" dirty="0">
                <a:solidFill>
                  <a:srgbClr val="F1F5F9"/>
                </a:solidFill>
                <a:latin typeface="Trebuchet MS" pitchFamily="34" charset="0"/>
                <a:ea typeface="Trebuchet MS" pitchFamily="34" charset="-122"/>
                <a:cs typeface="Trebuchet MS" pitchFamily="34" charset="-120"/>
              </a:rPr>
              <a:t> Son rutas que toma nuestro cerebro para procesar información rápidamente</a:t>
            </a:r>
            <a:endParaRPr lang="en-US" sz="1200" dirty="0"/>
          </a:p>
          <a:p>
            <a:pPr marL="342900" indent="-342900">
              <a:lnSpc>
                <a:spcPts val="1440"/>
              </a:lnSpc>
              <a:buSzPct val="100000"/>
              <a:buChar char="•"/>
            </a:pPr>
            <a:r>
              <a:rPr lang="en-US" sz="1350" b="1" dirty="0">
                <a:solidFill>
                  <a:srgbClr val="CBD5E1"/>
                </a:solidFill>
                <a:latin typeface="Trebuchet MS" pitchFamily="34" charset="0"/>
                <a:ea typeface="Trebuchet MS" pitchFamily="34" charset="-122"/>
                <a:cs typeface="Trebuchet MS" pitchFamily="34" charset="-120"/>
              </a:rPr>
              <a:t>Atajos mentales:</a:t>
            </a:r>
            <a:r>
              <a:rPr lang="en-US" sz="1200" dirty="0">
                <a:solidFill>
                  <a:srgbClr val="F1F5F9"/>
                </a:solidFill>
                <a:latin typeface="Trebuchet MS" pitchFamily="34" charset="0"/>
                <a:ea typeface="Trebuchet MS" pitchFamily="34" charset="-122"/>
                <a:cs typeface="Trebuchet MS" pitchFamily="34" charset="-120"/>
              </a:rPr>
              <a:t> Estrategias que utilizamos para simplificar </a:t>
            </a:r>
            <a:r>
              <a:rPr lang="en-US" sz="1200" dirty="0" err="1">
                <a:solidFill>
                  <a:srgbClr val="F1F5F9"/>
                </a:solidFill>
                <a:latin typeface="Trebuchet MS" pitchFamily="34" charset="0"/>
                <a:ea typeface="Trebuchet MS" pitchFamily="34" charset="-122"/>
                <a:cs typeface="Trebuchet MS" pitchFamily="34" charset="-120"/>
              </a:rPr>
              <a:t>problemas</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complejos</a:t>
            </a:r>
            <a:endParaRPr lang="en-US" sz="1200" dirty="0">
              <a:solidFill>
                <a:srgbClr val="F1F5F9"/>
              </a:solidFill>
              <a:latin typeface="Trebuchet MS" pitchFamily="34" charset="0"/>
              <a:ea typeface="Trebuchet MS" pitchFamily="34" charset="-122"/>
              <a:cs typeface="Trebuchet MS"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¿Qué son las Heurísticas?</a:t>
            </a:r>
            <a:endParaRPr lang="en-US" sz="2700" dirty="0"/>
          </a:p>
        </p:txBody>
      </p:sp>
      <p:sp>
        <p:nvSpPr>
          <p:cNvPr id="3" name="Text 1"/>
          <p:cNvSpPr/>
          <p:nvPr/>
        </p:nvSpPr>
        <p:spPr>
          <a:xfrm>
            <a:off x="609600" y="1325761"/>
            <a:ext cx="7924800" cy="1919734"/>
          </a:xfrm>
          <a:prstGeom prst="rect">
            <a:avLst/>
          </a:prstGeom>
          <a:noFill/>
          <a:ln/>
        </p:spPr>
        <p:txBody>
          <a:bodyPr wrap="square" lIns="0" tIns="0" rIns="0" bIns="0" rtlCol="0" anchor="t"/>
          <a:lstStyle/>
          <a:p>
            <a:pPr marL="342900" indent="-342900">
              <a:lnSpc>
                <a:spcPts val="1440"/>
              </a:lnSpc>
              <a:buSzPct val="100000"/>
              <a:buChar char="•"/>
            </a:pPr>
            <a:r>
              <a:rPr lang="en-US" sz="1350" b="1" dirty="0" err="1">
                <a:solidFill>
                  <a:srgbClr val="CBD5E1"/>
                </a:solidFill>
                <a:latin typeface="Trebuchet MS" pitchFamily="34" charset="0"/>
                <a:ea typeface="Trebuchet MS" pitchFamily="34" charset="-122"/>
                <a:cs typeface="Trebuchet MS" pitchFamily="34" charset="-120"/>
              </a:rPr>
              <a:t>Decisiones</a:t>
            </a:r>
            <a:r>
              <a:rPr lang="en-US" sz="1350" b="1" dirty="0">
                <a:solidFill>
                  <a:srgbClr val="CBD5E1"/>
                </a:solidFill>
                <a:latin typeface="Trebuchet MS" pitchFamily="34" charset="0"/>
                <a:ea typeface="Trebuchet MS" pitchFamily="34" charset="-122"/>
                <a:cs typeface="Trebuchet MS" pitchFamily="34" charset="-120"/>
              </a:rPr>
              <a:t> </a:t>
            </a:r>
            <a:r>
              <a:rPr lang="en-US" sz="1350" b="1" dirty="0" err="1">
                <a:solidFill>
                  <a:srgbClr val="CBD5E1"/>
                </a:solidFill>
                <a:latin typeface="Trebuchet MS" pitchFamily="34" charset="0"/>
                <a:ea typeface="Trebuchet MS" pitchFamily="34" charset="-122"/>
                <a:cs typeface="Trebuchet MS" pitchFamily="34" charset="-120"/>
              </a:rPr>
              <a:t>rápidas</a:t>
            </a:r>
            <a:r>
              <a:rPr lang="en-US" sz="1350" b="1" dirty="0">
                <a:solidFill>
                  <a:srgbClr val="CBD5E1"/>
                </a:solidFill>
                <a:latin typeface="Trebuchet MS" pitchFamily="34" charset="0"/>
                <a:ea typeface="Trebuchet MS" pitchFamily="34" charset="-122"/>
                <a:cs typeface="Trebuchet MS" pitchFamily="34" charset="-120"/>
              </a:rPr>
              <a:t>:</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Permiten</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tomar</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decisiones</a:t>
            </a:r>
            <a:r>
              <a:rPr lang="en-US" sz="1200" dirty="0">
                <a:solidFill>
                  <a:srgbClr val="F1F5F9"/>
                </a:solidFill>
                <a:latin typeface="Trebuchet MS" pitchFamily="34" charset="0"/>
                <a:ea typeface="Trebuchet MS" pitchFamily="34" charset="-122"/>
                <a:cs typeface="Trebuchet MS" pitchFamily="34" charset="-120"/>
              </a:rPr>
              <a:t> sin </a:t>
            </a:r>
            <a:r>
              <a:rPr lang="en-US" sz="1200" dirty="0" err="1">
                <a:solidFill>
                  <a:srgbClr val="F1F5F9"/>
                </a:solidFill>
                <a:latin typeface="Trebuchet MS" pitchFamily="34" charset="0"/>
                <a:ea typeface="Trebuchet MS" pitchFamily="34" charset="-122"/>
                <a:cs typeface="Trebuchet MS" pitchFamily="34" charset="-120"/>
              </a:rPr>
              <a:t>necesidad</a:t>
            </a:r>
            <a:r>
              <a:rPr lang="en-US" sz="1200" dirty="0">
                <a:solidFill>
                  <a:srgbClr val="F1F5F9"/>
                </a:solidFill>
                <a:latin typeface="Trebuchet MS" pitchFamily="34" charset="0"/>
                <a:ea typeface="Trebuchet MS" pitchFamily="34" charset="-122"/>
                <a:cs typeface="Trebuchet MS" pitchFamily="34" charset="-120"/>
              </a:rPr>
              <a:t> de </a:t>
            </a:r>
            <a:r>
              <a:rPr lang="en-US" sz="1200" dirty="0" err="1">
                <a:solidFill>
                  <a:srgbClr val="F1F5F9"/>
                </a:solidFill>
                <a:latin typeface="Trebuchet MS" pitchFamily="34" charset="0"/>
                <a:ea typeface="Trebuchet MS" pitchFamily="34" charset="-122"/>
                <a:cs typeface="Trebuchet MS" pitchFamily="34" charset="-120"/>
              </a:rPr>
              <a:t>analizar</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toda</a:t>
            </a:r>
            <a:r>
              <a:rPr lang="en-US" sz="1200" dirty="0">
                <a:solidFill>
                  <a:srgbClr val="F1F5F9"/>
                </a:solidFill>
                <a:latin typeface="Trebuchet MS" pitchFamily="34" charset="0"/>
                <a:ea typeface="Trebuchet MS" pitchFamily="34" charset="-122"/>
                <a:cs typeface="Trebuchet MS" pitchFamily="34" charset="-120"/>
              </a:rPr>
              <a:t> la </a:t>
            </a:r>
            <a:r>
              <a:rPr lang="en-US" sz="1200" dirty="0" err="1">
                <a:solidFill>
                  <a:srgbClr val="F1F5F9"/>
                </a:solidFill>
                <a:latin typeface="Trebuchet MS" pitchFamily="34" charset="0"/>
                <a:ea typeface="Trebuchet MS" pitchFamily="34" charset="-122"/>
                <a:cs typeface="Trebuchet MS" pitchFamily="34" charset="-120"/>
              </a:rPr>
              <a:t>información</a:t>
            </a:r>
            <a:r>
              <a:rPr lang="en-US" sz="1200" dirty="0">
                <a:solidFill>
                  <a:srgbClr val="F1F5F9"/>
                </a:solidFill>
                <a:latin typeface="Trebuchet MS" pitchFamily="34" charset="0"/>
                <a:ea typeface="Trebuchet MS" pitchFamily="34" charset="-122"/>
                <a:cs typeface="Trebuchet MS" pitchFamily="34" charset="-120"/>
              </a:rPr>
              <a:t> disponible</a:t>
            </a:r>
            <a:endParaRPr lang="en-US" sz="1200" dirty="0"/>
          </a:p>
          <a:p>
            <a:pPr marL="342900" indent="-342900">
              <a:lnSpc>
                <a:spcPts val="1440"/>
              </a:lnSpc>
              <a:buSzPct val="100000"/>
              <a:buChar char="•"/>
            </a:pPr>
            <a:r>
              <a:rPr lang="en-US" sz="1350" b="1" dirty="0" err="1">
                <a:solidFill>
                  <a:srgbClr val="CBD5E1"/>
                </a:solidFill>
                <a:latin typeface="Trebuchet MS" pitchFamily="34" charset="0"/>
                <a:ea typeface="Trebuchet MS" pitchFamily="34" charset="-122"/>
                <a:cs typeface="Trebuchet MS" pitchFamily="34" charset="-120"/>
              </a:rPr>
              <a:t>Eficiencia</a:t>
            </a:r>
            <a:r>
              <a:rPr lang="en-US" sz="1350" b="1" dirty="0">
                <a:solidFill>
                  <a:srgbClr val="CBD5E1"/>
                </a:solidFill>
                <a:latin typeface="Trebuchet MS" pitchFamily="34" charset="0"/>
                <a:ea typeface="Trebuchet MS" pitchFamily="34" charset="-122"/>
                <a:cs typeface="Trebuchet MS" pitchFamily="34" charset="-120"/>
              </a:rPr>
              <a:t> </a:t>
            </a:r>
            <a:r>
              <a:rPr lang="en-US" sz="1350" b="1" dirty="0" err="1">
                <a:solidFill>
                  <a:srgbClr val="CBD5E1"/>
                </a:solidFill>
                <a:latin typeface="Trebuchet MS" pitchFamily="34" charset="0"/>
                <a:ea typeface="Trebuchet MS" pitchFamily="34" charset="-122"/>
                <a:cs typeface="Trebuchet MS" pitchFamily="34" charset="-120"/>
              </a:rPr>
              <a:t>cognitiva</a:t>
            </a:r>
            <a:r>
              <a:rPr lang="en-US" sz="1350" b="1" dirty="0">
                <a:solidFill>
                  <a:srgbClr val="CBD5E1"/>
                </a:solidFill>
                <a:latin typeface="Trebuchet MS" pitchFamily="34" charset="0"/>
                <a:ea typeface="Trebuchet MS" pitchFamily="34" charset="-122"/>
                <a:cs typeface="Trebuchet MS" pitchFamily="34" charset="-120"/>
              </a:rPr>
              <a:t>:</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Reducen</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el</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esfuerzo</a:t>
            </a:r>
            <a:r>
              <a:rPr lang="en-US" sz="1200" dirty="0">
                <a:solidFill>
                  <a:srgbClr val="F1F5F9"/>
                </a:solidFill>
                <a:latin typeface="Trebuchet MS" pitchFamily="34" charset="0"/>
                <a:ea typeface="Trebuchet MS" pitchFamily="34" charset="-122"/>
                <a:cs typeface="Trebuchet MS" pitchFamily="34" charset="-120"/>
              </a:rPr>
              <a:t> mental y </a:t>
            </a:r>
            <a:r>
              <a:rPr lang="en-US" sz="1200" dirty="0" err="1">
                <a:solidFill>
                  <a:srgbClr val="F1F5F9"/>
                </a:solidFill>
                <a:latin typeface="Trebuchet MS" pitchFamily="34" charset="0"/>
                <a:ea typeface="Trebuchet MS" pitchFamily="34" charset="-122"/>
                <a:cs typeface="Trebuchet MS" pitchFamily="34" charset="-120"/>
              </a:rPr>
              <a:t>ahorran</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tiempo</a:t>
            </a:r>
            <a:r>
              <a:rPr lang="en-US" sz="1200" dirty="0">
                <a:solidFill>
                  <a:srgbClr val="F1F5F9"/>
                </a:solidFill>
                <a:latin typeface="Trebuchet MS" pitchFamily="34" charset="0"/>
                <a:ea typeface="Trebuchet MS" pitchFamily="34" charset="-122"/>
                <a:cs typeface="Trebuchet MS" pitchFamily="34" charset="-120"/>
              </a:rPr>
              <a:t> </a:t>
            </a:r>
            <a:r>
              <a:rPr lang="en-US" sz="1200" dirty="0" err="1">
                <a:solidFill>
                  <a:srgbClr val="F1F5F9"/>
                </a:solidFill>
                <a:latin typeface="Trebuchet MS" pitchFamily="34" charset="0"/>
                <a:ea typeface="Trebuchet MS" pitchFamily="34" charset="-122"/>
                <a:cs typeface="Trebuchet MS" pitchFamily="34" charset="-120"/>
              </a:rPr>
              <a:t>valioso</a:t>
            </a:r>
            <a:endParaRPr lang="en-US" sz="1200" dirty="0"/>
          </a:p>
        </p:txBody>
      </p:sp>
    </p:spTree>
    <p:extLst>
      <p:ext uri="{BB962C8B-B14F-4D97-AF65-F5344CB8AC3E}">
        <p14:creationId xmlns:p14="http://schemas.microsoft.com/office/powerpoint/2010/main" val="185139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524692"/>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¿Por qué nuestro cerebro usa atajos?</a:t>
            </a:r>
            <a:endParaRPr lang="en-US" sz="2700" dirty="0"/>
          </a:p>
        </p:txBody>
      </p:sp>
      <p:sp>
        <p:nvSpPr>
          <p:cNvPr id="3" name="Text 1"/>
          <p:cNvSpPr/>
          <p:nvPr/>
        </p:nvSpPr>
        <p:spPr>
          <a:xfrm>
            <a:off x="609600" y="1569601"/>
            <a:ext cx="7924800" cy="822871"/>
          </a:xfrm>
          <a:prstGeom prst="rect">
            <a:avLst/>
          </a:prstGeom>
          <a:noFill/>
          <a:ln/>
        </p:spPr>
        <p:txBody>
          <a:bodyPr wrap="square" lIns="0" tIns="0" rIns="0" bIns="0" rtlCol="0" anchor="t"/>
          <a:lstStyle/>
          <a:p>
            <a:pPr marL="0" indent="0">
              <a:lnSpc>
                <a:spcPts val="2880"/>
              </a:lnSpc>
              <a:buNone/>
            </a:pPr>
            <a:r>
              <a:rPr lang="en-US" sz="1350" dirty="0">
                <a:solidFill>
                  <a:srgbClr val="CBD5E1"/>
                </a:solidFill>
                <a:latin typeface="Trebuchet MS" pitchFamily="34" charset="0"/>
                <a:ea typeface="Trebuchet MS" pitchFamily="34" charset="-122"/>
                <a:cs typeface="Trebuchet MS" pitchFamily="34" charset="-120"/>
              </a:rPr>
              <a:t>Nuestro cerebro recibe miles de millones de inputs cada segundo. Es imposible procesar toda esa información conscientemente. Por eso, a lo largo de la evolución, hemos desarrollado atajos mentales que nos permiten:</a:t>
            </a:r>
            <a:endParaRPr lang="en-US" sz="1350" dirty="0"/>
          </a:p>
        </p:txBody>
      </p:sp>
      <p:sp>
        <p:nvSpPr>
          <p:cNvPr id="4" name="Text 2"/>
          <p:cNvSpPr/>
          <p:nvPr/>
        </p:nvSpPr>
        <p:spPr>
          <a:xfrm>
            <a:off x="609600" y="2817015"/>
            <a:ext cx="7924800" cy="1645444"/>
          </a:xfrm>
          <a:prstGeom prst="rect">
            <a:avLst/>
          </a:prstGeom>
          <a:noFill/>
          <a:ln/>
        </p:spPr>
        <p:txBody>
          <a:bodyPr wrap="square" lIns="0" tIns="0" rIns="0" bIns="0" rtlCol="0" anchor="t"/>
          <a:lstStyle/>
          <a:p>
            <a:pPr marL="342900" indent="-342900">
              <a:lnSpc>
                <a:spcPts val="1440"/>
              </a:lnSpc>
              <a:buSzPct val="100000"/>
              <a:buChar char="•"/>
            </a:pPr>
            <a:r>
              <a:rPr lang="en-US" sz="1200" dirty="0">
                <a:solidFill>
                  <a:srgbClr val="F1F5F9"/>
                </a:solidFill>
                <a:latin typeface="Trebuchet MS" pitchFamily="34" charset="0"/>
                <a:ea typeface="Trebuchet MS" pitchFamily="34" charset="-122"/>
                <a:cs typeface="Trebuchet MS" pitchFamily="34" charset="-120"/>
              </a:rPr>
              <a:t>Tomar decisiones instantáneamente en situaciones críticas</a:t>
            </a:r>
            <a:endParaRPr lang="en-US" sz="1200" dirty="0"/>
          </a:p>
          <a:p>
            <a:pPr marL="342900" indent="-342900">
              <a:lnSpc>
                <a:spcPts val="1440"/>
              </a:lnSpc>
              <a:buSzPct val="100000"/>
              <a:buChar char="•"/>
            </a:pPr>
            <a:r>
              <a:rPr lang="en-US" sz="1200" dirty="0">
                <a:solidFill>
                  <a:srgbClr val="F1F5F9"/>
                </a:solidFill>
                <a:latin typeface="Trebuchet MS" pitchFamily="34" charset="0"/>
                <a:ea typeface="Trebuchet MS" pitchFamily="34" charset="-122"/>
                <a:cs typeface="Trebuchet MS" pitchFamily="34" charset="-120"/>
              </a:rPr>
              <a:t>Funcionar eficientemente en ambientes complejos</a:t>
            </a:r>
            <a:endParaRPr lang="en-US" sz="1200" dirty="0"/>
          </a:p>
          <a:p>
            <a:pPr marL="342900" indent="-342900">
              <a:lnSpc>
                <a:spcPts val="1440"/>
              </a:lnSpc>
              <a:buSzPct val="100000"/>
              <a:buChar char="•"/>
            </a:pPr>
            <a:r>
              <a:rPr lang="en-US" sz="1200" dirty="0">
                <a:solidFill>
                  <a:srgbClr val="F1F5F9"/>
                </a:solidFill>
                <a:latin typeface="Trebuchet MS" pitchFamily="34" charset="0"/>
                <a:ea typeface="Trebuchet MS" pitchFamily="34" charset="-122"/>
                <a:cs typeface="Trebuchet MS" pitchFamily="34" charset="-120"/>
              </a:rPr>
              <a:t>Resolver problemas con información limitada</a:t>
            </a:r>
            <a:endParaRPr lang="en-US" sz="1200" dirty="0"/>
          </a:p>
          <a:p>
            <a:pPr marL="342900" indent="-342900">
              <a:lnSpc>
                <a:spcPts val="1440"/>
              </a:lnSpc>
              <a:buSzPct val="100000"/>
              <a:buChar char="•"/>
            </a:pPr>
            <a:r>
              <a:rPr lang="en-US" sz="1200" dirty="0">
                <a:solidFill>
                  <a:srgbClr val="F1F5F9"/>
                </a:solidFill>
                <a:latin typeface="Trebuchet MS" pitchFamily="34" charset="0"/>
                <a:ea typeface="Trebuchet MS" pitchFamily="34" charset="-122"/>
                <a:cs typeface="Trebuchet MS" pitchFamily="34" charset="-120"/>
              </a:rPr>
              <a:t>Actuar rápidamente sin necesidad de reflexión profunda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s-ES" sz="2700" b="1" dirty="0">
                <a:solidFill>
                  <a:srgbClr val="38BDF8"/>
                </a:solidFill>
                <a:latin typeface="Trebuchet MS" pitchFamily="34" charset="0"/>
                <a:ea typeface="Trebuchet MS" pitchFamily="34" charset="-122"/>
                <a:cs typeface="Trebuchet MS" pitchFamily="34" charset="-120"/>
              </a:rPr>
              <a:t>Heurísticas y Toma de Decisiones</a:t>
            </a:r>
            <a:endParaRPr lang="en-US" sz="2700" dirty="0"/>
          </a:p>
        </p:txBody>
      </p:sp>
      <p:sp>
        <p:nvSpPr>
          <p:cNvPr id="3" name="Text 1"/>
          <p:cNvSpPr/>
          <p:nvPr/>
        </p:nvSpPr>
        <p:spPr>
          <a:xfrm>
            <a:off x="609600" y="1325761"/>
            <a:ext cx="7924800" cy="1919734"/>
          </a:xfrm>
          <a:prstGeom prst="rect">
            <a:avLst/>
          </a:prstGeom>
          <a:noFill/>
          <a:ln/>
        </p:spPr>
        <p:txBody>
          <a:bodyPr wrap="square" lIns="0" tIns="0" rIns="0" bIns="0" rtlCol="0" anchor="t"/>
          <a:lstStyle/>
          <a:p>
            <a:pPr marL="342900" indent="-342900">
              <a:lnSpc>
                <a:spcPts val="1440"/>
              </a:lnSpc>
              <a:buSzPct val="100000"/>
              <a:buChar char="•"/>
            </a:pPr>
            <a:r>
              <a:rPr lang="es-ES" sz="1400" dirty="0">
                <a:solidFill>
                  <a:schemeClr val="bg1"/>
                </a:solidFill>
                <a:latin typeface="Trebuchet MS" panose="020B0603020202020204" pitchFamily="34" charset="0"/>
              </a:rPr>
              <a:t>“Según Kahneman y </a:t>
            </a:r>
            <a:r>
              <a:rPr lang="es-ES" sz="1400" dirty="0" err="1">
                <a:solidFill>
                  <a:schemeClr val="bg1"/>
                </a:solidFill>
                <a:latin typeface="Trebuchet MS" panose="020B0603020202020204" pitchFamily="34" charset="0"/>
              </a:rPr>
              <a:t>Tversky</a:t>
            </a:r>
            <a:r>
              <a:rPr lang="es-ES" sz="1400" dirty="0">
                <a:solidFill>
                  <a:schemeClr val="bg1"/>
                </a:solidFill>
                <a:latin typeface="Trebuchet MS" panose="020B0603020202020204" pitchFamily="34" charset="0"/>
              </a:rPr>
              <a:t> (1974), las heurísticas son los atajos mentales que usamos para aprender y decidir cuando no tenemos toda la información disponible.”</a:t>
            </a:r>
            <a:endParaRPr lang="en-US" sz="1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705004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1478161"/>
          </a:xfrm>
          <a:prstGeom prst="roundRect">
            <a:avLst>
              <a:gd name="adj" fmla="val 24744"/>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956322"/>
            <a:ext cx="7924800" cy="1478161"/>
          </a:xfrm>
          <a:prstGeom prst="roundRect">
            <a:avLst>
              <a:gd name="adj" fmla="val 24744"/>
            </a:avLst>
          </a:prstGeom>
          <a:solidFill>
            <a:srgbClr val="1E293B"/>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Principios Clave de las Heurísticas</a:t>
            </a:r>
            <a:endParaRPr lang="en-US" sz="2700" dirty="0"/>
          </a:p>
        </p:txBody>
      </p:sp>
      <p:sp>
        <p:nvSpPr>
          <p:cNvPr id="5" name="Text 3"/>
          <p:cNvSpPr/>
          <p:nvPr/>
        </p:nvSpPr>
        <p:spPr>
          <a:xfrm>
            <a:off x="952500" y="1554361"/>
            <a:ext cx="7422642"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1. Disponibilidad</a:t>
            </a:r>
            <a:endParaRPr lang="en-US" sz="2100" dirty="0"/>
          </a:p>
        </p:txBody>
      </p:sp>
      <p:sp>
        <p:nvSpPr>
          <p:cNvPr id="6" name="Text 4"/>
          <p:cNvSpPr/>
          <p:nvPr/>
        </p:nvSpPr>
        <p:spPr>
          <a:xfrm>
            <a:off x="952500" y="1935361"/>
            <a:ext cx="727710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Tendemos a juzgar la probabilidad o frecuencia de un evento basándonos en qué tan fácil es traerlo a la memoria. Si recordamos fácilmente ejemplos de algo, asumimos que es más común.</a:t>
            </a:r>
            <a:endParaRPr lang="en-US" sz="1200" dirty="0"/>
          </a:p>
        </p:txBody>
      </p:sp>
      <p:sp>
        <p:nvSpPr>
          <p:cNvPr id="7" name="Text 5"/>
          <p:cNvSpPr/>
          <p:nvPr/>
        </p:nvSpPr>
        <p:spPr>
          <a:xfrm>
            <a:off x="952500" y="3261122"/>
            <a:ext cx="7422642"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2. Ajuste y Anclaje</a:t>
            </a:r>
            <a:endParaRPr lang="en-US" sz="2100" dirty="0"/>
          </a:p>
        </p:txBody>
      </p:sp>
      <p:sp>
        <p:nvSpPr>
          <p:cNvPr id="8" name="Text 6"/>
          <p:cNvSpPr/>
          <p:nvPr/>
        </p:nvSpPr>
        <p:spPr>
          <a:xfrm>
            <a:off x="952500" y="3642122"/>
            <a:ext cx="727710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Nos anclamos al primer número o información que recibimos, y realizamos pequeños ajustes a partir de ese punto. El primer valor que escuchamos influye en nuestras decisiones finales.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1478161"/>
          </a:xfrm>
          <a:prstGeom prst="roundRect">
            <a:avLst>
              <a:gd name="adj" fmla="val 24744"/>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956322"/>
            <a:ext cx="7924800" cy="1478161"/>
          </a:xfrm>
          <a:prstGeom prst="roundRect">
            <a:avLst>
              <a:gd name="adj" fmla="val 24744"/>
            </a:avLst>
          </a:prstGeom>
          <a:solidFill>
            <a:srgbClr val="1E293B"/>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Principios Clave de las Heurísticas</a:t>
            </a:r>
            <a:endParaRPr lang="en-US" sz="2700" dirty="0"/>
          </a:p>
        </p:txBody>
      </p:sp>
      <p:sp>
        <p:nvSpPr>
          <p:cNvPr id="5" name="Text 3"/>
          <p:cNvSpPr/>
          <p:nvPr/>
        </p:nvSpPr>
        <p:spPr>
          <a:xfrm>
            <a:off x="952500" y="1554361"/>
            <a:ext cx="7422642"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3. Representatividad</a:t>
            </a:r>
            <a:endParaRPr lang="en-US" sz="2100" dirty="0"/>
          </a:p>
        </p:txBody>
      </p:sp>
      <p:sp>
        <p:nvSpPr>
          <p:cNvPr id="6" name="Text 4"/>
          <p:cNvSpPr/>
          <p:nvPr/>
        </p:nvSpPr>
        <p:spPr>
          <a:xfrm>
            <a:off x="952500" y="1935361"/>
            <a:ext cx="727710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Asumimos que algo que se parece mucho a un prototipo típico pertenece a esa categoría. Juzgamos por similitud visual o comportamental más que por probabilidades reales.</a:t>
            </a:r>
            <a:endParaRPr lang="en-US" sz="1200" dirty="0"/>
          </a:p>
        </p:txBody>
      </p:sp>
      <p:sp>
        <p:nvSpPr>
          <p:cNvPr id="7" name="Text 5"/>
          <p:cNvSpPr/>
          <p:nvPr/>
        </p:nvSpPr>
        <p:spPr>
          <a:xfrm>
            <a:off x="952500" y="3261122"/>
            <a:ext cx="7422642"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4. Aversión a la Pérdida</a:t>
            </a:r>
            <a:endParaRPr lang="en-US" sz="2100" dirty="0"/>
          </a:p>
        </p:txBody>
      </p:sp>
      <p:sp>
        <p:nvSpPr>
          <p:cNvPr id="8" name="Text 6"/>
          <p:cNvSpPr/>
          <p:nvPr/>
        </p:nvSpPr>
        <p:spPr>
          <a:xfrm>
            <a:off x="952500" y="3642122"/>
            <a:ext cx="727710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El dolor de perder algo es aproximadamente el doble del placer de ganarlo. Esta asimetría hace que seamos más cautelosos con lo que podemos perder.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28230" y="1269425"/>
            <a:ext cx="3810000" cy="1817191"/>
          </a:xfrm>
          <a:prstGeom prst="roundRect">
            <a:avLst>
              <a:gd name="adj" fmla="val 40256"/>
            </a:avLst>
          </a:prstGeom>
          <a:solidFill>
            <a:srgbClr val="1E293B"/>
          </a:solidFill>
          <a:ln w="9525">
            <a:solidFill>
              <a:srgbClr val="38BDF8"/>
            </a:solidFill>
          </a:ln>
        </p:spPr>
        <p:txBody>
          <a:bodyPr wrap="none" lIns="0" tIns="0" rIns="0" bIns="0" rtlCol="0" anchor="ctr">
            <a:normAutofit/>
          </a:bodyPr>
          <a:lstStyle/>
          <a:p>
            <a:pPr marL="0" indent="0">
              <a:buNone/>
            </a:pPr>
            <a:endParaRPr lang="en-US" dirty="0"/>
          </a:p>
        </p:txBody>
      </p:sp>
      <p:sp>
        <p:nvSpPr>
          <p:cNvPr id="3" name="Text 1"/>
          <p:cNvSpPr/>
          <p:nvPr/>
        </p:nvSpPr>
        <p:spPr>
          <a:xfrm>
            <a:off x="4756213" y="1264890"/>
            <a:ext cx="3810000" cy="1817191"/>
          </a:xfrm>
          <a:prstGeom prst="roundRect">
            <a:avLst>
              <a:gd name="adj" fmla="val 40256"/>
            </a:avLst>
          </a:prstGeom>
          <a:solidFill>
            <a:srgbClr val="1E293B"/>
          </a:solidFill>
          <a:ln w="9525">
            <a:solidFill>
              <a:srgbClr val="38BDF8"/>
            </a:solidFill>
          </a:ln>
        </p:spPr>
        <p:txBody>
          <a:bodyPr wrap="none" lIns="0" tIns="0" rIns="0" bIns="0" rtlCol="0" anchor="ctr">
            <a:normAutofit/>
          </a:bodyPr>
          <a:lstStyle/>
          <a:p>
            <a:pPr marL="0" indent="0">
              <a:buNone/>
            </a:pPr>
            <a:endParaRPr lang="en-US" dirty="0"/>
          </a:p>
        </p:txBody>
      </p:sp>
      <p:sp>
        <p:nvSpPr>
          <p:cNvPr id="4" name="Text 2"/>
          <p:cNvSpPr/>
          <p:nvPr/>
        </p:nvSpPr>
        <p:spPr>
          <a:xfrm>
            <a:off x="528230" y="3335080"/>
            <a:ext cx="3810000" cy="1573411"/>
          </a:xfrm>
          <a:prstGeom prst="roundRect">
            <a:avLst>
              <a:gd name="adj" fmla="val 46493"/>
            </a:avLst>
          </a:prstGeom>
          <a:solidFill>
            <a:srgbClr val="1E293B"/>
          </a:solidFill>
          <a:ln w="9525">
            <a:solidFill>
              <a:srgbClr val="38BDF8"/>
            </a:solidFill>
          </a:ln>
        </p:spPr>
        <p:txBody>
          <a:bodyPr wrap="none" lIns="0" tIns="0" rIns="0" bIns="0" rtlCol="0" anchor="ctr">
            <a:normAutofit/>
          </a:bodyPr>
          <a:lstStyle/>
          <a:p>
            <a:pPr marL="0" indent="0">
              <a:buNone/>
            </a:pPr>
            <a:endParaRPr lang="en-US" dirty="0"/>
          </a:p>
        </p:txBody>
      </p:sp>
      <p:sp>
        <p:nvSpPr>
          <p:cNvPr id="5" name="Text 3"/>
          <p:cNvSpPr/>
          <p:nvPr/>
        </p:nvSpPr>
        <p:spPr>
          <a:xfrm>
            <a:off x="4756213" y="3356371"/>
            <a:ext cx="3810000" cy="1573411"/>
          </a:xfrm>
          <a:prstGeom prst="roundRect">
            <a:avLst>
              <a:gd name="adj" fmla="val 46493"/>
            </a:avLst>
          </a:prstGeom>
          <a:solidFill>
            <a:srgbClr val="1E293B"/>
          </a:solidFill>
          <a:ln w="9525">
            <a:solidFill>
              <a:srgbClr val="38BDF8"/>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609600"/>
            <a:ext cx="8083296" cy="411361"/>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Trebuchet MS" pitchFamily="34" charset="0"/>
                <a:ea typeface="Trebuchet MS" pitchFamily="34" charset="-122"/>
                <a:cs typeface="Trebuchet MS" pitchFamily="34" charset="-120"/>
              </a:rPr>
              <a:t>Ejemplos Prácticos en tu Día a Día</a:t>
            </a:r>
            <a:endParaRPr lang="en-US" sz="2700" dirty="0"/>
          </a:p>
        </p:txBody>
      </p:sp>
      <p:sp>
        <p:nvSpPr>
          <p:cNvPr id="7" name="Text 5"/>
          <p:cNvSpPr/>
          <p:nvPr/>
        </p:nvSpPr>
        <p:spPr>
          <a:xfrm>
            <a:off x="982708" y="1594396"/>
            <a:ext cx="3244977"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Disponibilidad</a:t>
            </a:r>
            <a:endParaRPr lang="en-US" sz="2100" dirty="0"/>
          </a:p>
        </p:txBody>
      </p:sp>
      <p:sp>
        <p:nvSpPr>
          <p:cNvPr id="8" name="Text 6"/>
          <p:cNvSpPr/>
          <p:nvPr/>
        </p:nvSpPr>
        <p:spPr>
          <a:xfrm>
            <a:off x="923925" y="2001661"/>
            <a:ext cx="3181350" cy="73134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Ves un accidente de auto en la tele y crees que conducir es muy peligroso, aunque estadísticamente sea seguro.</a:t>
            </a:r>
            <a:endParaRPr lang="en-US" sz="1200" dirty="0"/>
          </a:p>
        </p:txBody>
      </p:sp>
      <p:sp>
        <p:nvSpPr>
          <p:cNvPr id="9" name="Text 7"/>
          <p:cNvSpPr/>
          <p:nvPr/>
        </p:nvSpPr>
        <p:spPr>
          <a:xfrm>
            <a:off x="5179980" y="1557525"/>
            <a:ext cx="3244977"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Anclaje</a:t>
            </a:r>
            <a:endParaRPr lang="en-US" sz="2100" dirty="0"/>
          </a:p>
        </p:txBody>
      </p:sp>
      <p:sp>
        <p:nvSpPr>
          <p:cNvPr id="10" name="Text 8"/>
          <p:cNvSpPr/>
          <p:nvPr/>
        </p:nvSpPr>
        <p:spPr>
          <a:xfrm>
            <a:off x="5179980" y="1899196"/>
            <a:ext cx="3181350" cy="73134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Un producto cuesta $100 pero está "rebajado" a $60. El precio original ancla tu percepción de valor.</a:t>
            </a:r>
            <a:endParaRPr lang="en-US" sz="1200" dirty="0"/>
          </a:p>
        </p:txBody>
      </p:sp>
      <p:sp>
        <p:nvSpPr>
          <p:cNvPr id="11" name="Text 9"/>
          <p:cNvSpPr/>
          <p:nvPr/>
        </p:nvSpPr>
        <p:spPr>
          <a:xfrm>
            <a:off x="923925" y="3600545"/>
            <a:ext cx="3244977"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Representatividad</a:t>
            </a:r>
            <a:endParaRPr lang="en-US" sz="2100" dirty="0"/>
          </a:p>
        </p:txBody>
      </p:sp>
      <p:sp>
        <p:nvSpPr>
          <p:cNvPr id="12" name="Text 10"/>
          <p:cNvSpPr/>
          <p:nvPr/>
        </p:nvSpPr>
        <p:spPr>
          <a:xfrm>
            <a:off x="923925" y="4010244"/>
            <a:ext cx="318135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Asumes que alguien que viste ropa deportiva es atleta, sin saber si realmente lo es.</a:t>
            </a:r>
            <a:endParaRPr lang="en-US" sz="1200" dirty="0"/>
          </a:p>
        </p:txBody>
      </p:sp>
      <p:sp>
        <p:nvSpPr>
          <p:cNvPr id="13" name="Text 11"/>
          <p:cNvSpPr/>
          <p:nvPr/>
        </p:nvSpPr>
        <p:spPr>
          <a:xfrm>
            <a:off x="5243608" y="3530908"/>
            <a:ext cx="3244977" cy="304800"/>
          </a:xfrm>
          <a:prstGeom prst="rect">
            <a:avLst/>
          </a:prstGeom>
          <a:noFill/>
          <a:ln/>
        </p:spPr>
        <p:txBody>
          <a:bodyPr wrap="square" lIns="0" tIns="0" rIns="0" bIns="0" rtlCol="0" anchor="t"/>
          <a:lstStyle/>
          <a:p>
            <a:pPr marL="0" indent="0">
              <a:lnSpc>
                <a:spcPts val="2520"/>
              </a:lnSpc>
              <a:buNone/>
            </a:pPr>
            <a:r>
              <a:rPr lang="en-US" sz="2100" b="1" dirty="0">
                <a:solidFill>
                  <a:srgbClr val="38BDF8"/>
                </a:solidFill>
                <a:latin typeface="Trebuchet MS" pitchFamily="34" charset="0"/>
                <a:ea typeface="Trebuchet MS" pitchFamily="34" charset="-122"/>
                <a:cs typeface="Trebuchet MS" pitchFamily="34" charset="-120"/>
              </a:rPr>
              <a:t>Aversión a Pérdida</a:t>
            </a:r>
            <a:endParaRPr lang="en-US" sz="2100" dirty="0"/>
          </a:p>
        </p:txBody>
      </p:sp>
      <p:sp>
        <p:nvSpPr>
          <p:cNvPr id="14" name="Text 12"/>
          <p:cNvSpPr/>
          <p:nvPr/>
        </p:nvSpPr>
        <p:spPr>
          <a:xfrm>
            <a:off x="5179980" y="3905345"/>
            <a:ext cx="3181350" cy="487561"/>
          </a:xfrm>
          <a:prstGeom prst="rect">
            <a:avLst/>
          </a:prstGeom>
          <a:noFill/>
          <a:ln/>
        </p:spPr>
        <p:txBody>
          <a:bodyPr wrap="square" lIns="0" tIns="0" rIns="0" bIns="0" rtlCol="0" anchor="t"/>
          <a:lstStyle/>
          <a:p>
            <a:pPr marL="0" indent="0">
              <a:lnSpc>
                <a:spcPts val="2560"/>
              </a:lnSpc>
              <a:buNone/>
            </a:pPr>
            <a:r>
              <a:rPr lang="en-US" sz="1200" dirty="0">
                <a:solidFill>
                  <a:srgbClr val="CBD5E1"/>
                </a:solidFill>
                <a:latin typeface="Trebuchet MS" pitchFamily="34" charset="0"/>
                <a:ea typeface="Trebuchet MS" pitchFamily="34" charset="-122"/>
                <a:cs typeface="Trebuchet MS" pitchFamily="34" charset="-120"/>
              </a:rPr>
              <a:t>Prefieres quedarte con acciones que pierden dinero a venderlas y aceptar la pérdida.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85800" y="1794570"/>
            <a:ext cx="7772400" cy="411361"/>
          </a:xfrm>
          <a:prstGeom prst="rect">
            <a:avLst/>
          </a:prstGeom>
          <a:noFill/>
          <a:ln/>
        </p:spPr>
        <p:txBody>
          <a:bodyPr wrap="square" lIns="0" tIns="0" rIns="0" bIns="0" rtlCol="0" anchor="t"/>
          <a:lstStyle/>
          <a:p>
            <a:pPr marL="0" indent="0" algn="ctr">
              <a:lnSpc>
                <a:spcPts val="4320"/>
              </a:lnSpc>
              <a:buNone/>
            </a:pPr>
            <a:r>
              <a:rPr lang="en-US" sz="2700" b="1" dirty="0">
                <a:solidFill>
                  <a:srgbClr val="38BDF8"/>
                </a:solidFill>
                <a:latin typeface="Trebuchet MS" pitchFamily="34" charset="0"/>
                <a:ea typeface="Trebuchet MS" pitchFamily="34" charset="-122"/>
                <a:cs typeface="Trebuchet MS" pitchFamily="34" charset="-120"/>
              </a:rPr>
              <a:t>Las Heurísticas nos Definen</a:t>
            </a:r>
            <a:endParaRPr lang="en-US" sz="2700" dirty="0"/>
          </a:p>
        </p:txBody>
      </p:sp>
      <p:sp>
        <p:nvSpPr>
          <p:cNvPr id="3" name="Text 1"/>
          <p:cNvSpPr/>
          <p:nvPr/>
        </p:nvSpPr>
        <p:spPr>
          <a:xfrm>
            <a:off x="762000" y="2434530"/>
            <a:ext cx="7620000" cy="914400"/>
          </a:xfrm>
          <a:prstGeom prst="rect">
            <a:avLst/>
          </a:prstGeom>
          <a:noFill/>
          <a:ln/>
        </p:spPr>
        <p:txBody>
          <a:bodyPr wrap="square" lIns="0" tIns="0" rIns="0" bIns="0" rtlCol="0" anchor="t"/>
          <a:lstStyle/>
          <a:p>
            <a:pPr marL="0" indent="0" algn="ctr">
              <a:lnSpc>
                <a:spcPts val="3200"/>
              </a:lnSpc>
              <a:buNone/>
            </a:pPr>
            <a:r>
              <a:rPr lang="en-US" sz="1500" dirty="0">
                <a:solidFill>
                  <a:srgbClr val="CBD5E1"/>
                </a:solidFill>
                <a:latin typeface="Trebuchet MS" pitchFamily="34" charset="0"/>
                <a:ea typeface="Trebuchet MS" pitchFamily="34" charset="-122"/>
                <a:cs typeface="Trebuchet MS" pitchFamily="34" charset="-120"/>
              </a:rPr>
              <a:t>Aunque a menudo cometen "errores", las heurísticas son lo que nos permite ser </a:t>
            </a:r>
            <a:r>
              <a:rPr lang="en-US" sz="1500" dirty="0">
                <a:solidFill>
                  <a:srgbClr val="38BDF8"/>
                </a:solidFill>
                <a:latin typeface="Trebuchet MS" pitchFamily="34" charset="0"/>
                <a:ea typeface="Trebuchet MS" pitchFamily="34" charset="-122"/>
                <a:cs typeface="Trebuchet MS" pitchFamily="34" charset="-120"/>
              </a:rPr>
              <a:t>rápidos, eficientes y creativos</a:t>
            </a:r>
            <a:r>
              <a:rPr lang="en-US" sz="1500" dirty="0">
                <a:solidFill>
                  <a:srgbClr val="CBD5E1"/>
                </a:solidFill>
                <a:latin typeface="Trebuchet MS" pitchFamily="34" charset="0"/>
                <a:ea typeface="Trebuchet MS" pitchFamily="34" charset="-122"/>
                <a:cs typeface="Trebuchet MS" pitchFamily="34" charset="-120"/>
              </a:rPr>
              <a:t> en un mundo complejo. Entenderlas nos hace mejores tomadores de decisiones.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85800" y="1794570"/>
            <a:ext cx="7772400" cy="411361"/>
          </a:xfrm>
          <a:prstGeom prst="rect">
            <a:avLst/>
          </a:prstGeom>
          <a:noFill/>
          <a:ln/>
        </p:spPr>
        <p:txBody>
          <a:bodyPr wrap="square" lIns="0" tIns="0" rIns="0" bIns="0" rtlCol="0" anchor="t"/>
          <a:lstStyle/>
          <a:p>
            <a:pPr marL="0" indent="0" algn="ctr">
              <a:lnSpc>
                <a:spcPts val="4320"/>
              </a:lnSpc>
              <a:buNone/>
            </a:pPr>
            <a:r>
              <a:rPr lang="en-US" sz="2700" b="1" dirty="0" err="1">
                <a:solidFill>
                  <a:srgbClr val="38BDF8"/>
                </a:solidFill>
                <a:latin typeface="Trebuchet MS" pitchFamily="34" charset="0"/>
                <a:ea typeface="Trebuchet MS" pitchFamily="34" charset="-122"/>
                <a:cs typeface="Trebuchet MS" pitchFamily="34" charset="-120"/>
              </a:rPr>
              <a:t>Conclusiones</a:t>
            </a:r>
            <a:endParaRPr lang="en-US" sz="2700" dirty="0"/>
          </a:p>
        </p:txBody>
      </p:sp>
      <p:sp>
        <p:nvSpPr>
          <p:cNvPr id="3" name="Text 1"/>
          <p:cNvSpPr/>
          <p:nvPr/>
        </p:nvSpPr>
        <p:spPr>
          <a:xfrm>
            <a:off x="762000" y="2434530"/>
            <a:ext cx="7620000" cy="914400"/>
          </a:xfrm>
          <a:prstGeom prst="rect">
            <a:avLst/>
          </a:prstGeom>
          <a:noFill/>
          <a:ln/>
        </p:spPr>
        <p:txBody>
          <a:bodyPr wrap="square" lIns="0" tIns="0" rIns="0" bIns="0" rtlCol="0" anchor="t"/>
          <a:lstStyle/>
          <a:p>
            <a:pPr marL="0" indent="0" algn="ctr">
              <a:lnSpc>
                <a:spcPts val="3200"/>
              </a:lnSpc>
              <a:buNone/>
            </a:pPr>
            <a:endParaRPr lang="en-US" sz="1500" dirty="0"/>
          </a:p>
        </p:txBody>
      </p:sp>
    </p:spTree>
    <p:extLst>
      <p:ext uri="{BB962C8B-B14F-4D97-AF65-F5344CB8AC3E}">
        <p14:creationId xmlns:p14="http://schemas.microsoft.com/office/powerpoint/2010/main" val="33406998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543</Words>
  <Application>Microsoft Office PowerPoint</Application>
  <PresentationFormat>Presentación en pantalla (16:9)</PresentationFormat>
  <Paragraphs>54</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Francisco Meza</cp:lastModifiedBy>
  <cp:revision>4</cp:revision>
  <dcterms:created xsi:type="dcterms:W3CDTF">2025-11-25T01:08:21Z</dcterms:created>
  <dcterms:modified xsi:type="dcterms:W3CDTF">2025-12-09T04:27:05Z</dcterms:modified>
</cp:coreProperties>
</file>